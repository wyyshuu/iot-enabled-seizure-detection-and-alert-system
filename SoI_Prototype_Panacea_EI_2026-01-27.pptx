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4"/>
  </p:notesMasterIdLst>
  <p:sldIdLst>
    <p:sldId id="256" r:id="rId5"/>
    <p:sldId id="258" r:id="rId6"/>
    <p:sldId id="277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05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1035 550 24575,'-272'59'0,"104"-24"0,-323 44 0,388-66 0,140-21 0,0 2 0,45-2 0,58-9 0,-40 1 0,181-6 0,-227 19 0,82-9 0,36-2 0,495 15 0,-719-5 0,0-3 0,1-1 0,-57-18 0,26 6 0,-189-35 0,72 17 0,-214-71 0,390 101 0,0-1 0,-23-13 0,40 18 0,0 1 0,0-1 0,0 0 0,0 0 0,1-1 0,0 0 0,0 1 0,0-2 0,1 1 0,-1-1 0,-4-8 0,8 12 0,0-1 0,1 1 0,-1-1 0,1 1 0,-1-1 0,1 0 0,0 1 0,0-1 0,0 1 0,0-1 0,0 0 0,1 1 0,-1-1 0,1 1 0,0-1 0,0 1 0,0-1 0,0 1 0,0 0 0,0-1 0,1 1 0,-1 0 0,1 0 0,-1 0 0,1 0 0,0 0 0,3-2 0,6-7 0,1 2 0,0-1 0,19-10 0,-24 16 0,20-12 0,2 1 0,-1 2 0,2 1 0,58-17 0,126-12 0,-185 37 0,0 0 0,1 2 0,-1 1 0,1 1 0,-1 2 0,1 1 0,-1 1 0,54 16 0,-54-12 0,1-1 0,-1-2 0,53 4 0,-61-7 0,-19-2-44,0 0 0,0 0 0,0 0 0,0 1 0,0-1 0,0 1 0,0-1 0,-1 1 0,1 0 0,0-1 0,0 1 0,-1 0 0,1 0 0,-1 0 0,1 0 0,-1 1 0,1-1 0,-1 0-1,1 1 1,-1-1 0,0 1 0,0-1 0,0 1 0,0 0 0,0-1 0,0 1 0,-1 0 0,1 0 0,0-1 0,0 4 0,-1 11-6782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58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155 0 24575,'-5'6'0,"0"1"0,0 0 0,0-1 0,1 1 0,0 1 0,0-1 0,1 1 0,-1-1 0,-1 10 0,-3 14 0,-4 33 0,-2 7 0,-10 22 0,-23 81 0,46-171 0,0 0 0,0 0 0,1 0 0,-1 0 0,1 1 0,-1-1 0,1 0 0,0 0 0,0 1 0,1 3 0,-1-6 0,1 0 0,-1 0 0,1 0 0,-1 0 0,1 0 0,0 0 0,-1 0 0,1-1 0,0 1 0,0 0 0,-1 0 0,1-1 0,0 1 0,0 0 0,0-1 0,0 1 0,0-1 0,0 1 0,0-1 0,0 0 0,0 1 0,0-1 0,1 0 0,-1 0 0,0 0 0,0 1 0,0-1 0,0-1 0,0 1 0,0 0 0,0 0 0,2-1 0,6 1 0,1 0 0,-1 1 0,1 0 0,-1 0 0,0 1 0,0 0 0,0 1 0,0 0 0,0 0 0,-1 1 0,14 7 0,-4 0 0,-1 2 0,0 0 0,0 0 0,14 17 0,77 65 0,-94-88 0,-9-15 0,-10-29 0,2 16 0,3 12 0,0-1 0,1 1 0,0 0 0,0 0 0,1 0 0,0 0 0,1 0 0,0 0 0,0 0 0,1 1 0,0 0 0,1-1 0,0 2 0,0-1 0,1 0 0,0 1 0,0 0 0,0 1 0,13-11 0,12-7 0,0 1 0,2 2 0,49-24 0,-49 27 0,349-176 0,-381 193 0,16-7 0,0 0 0,1 1 0,0 0 0,1 2 0,-1 0 0,33-4 0,-48 9 0,0-1 0,0 1 0,0 1 0,0-1 0,-1 0 0,1 1 0,0-1 0,0 1 0,-1 0 0,1 0 0,0 0 0,-1 0 0,1 0 0,-1 1 0,1-1 0,-1 1 0,0-1 0,1 1 0,-1 0 0,0 0 0,3 4 0,-3-2 0,0 1 0,0-1 0,0 0 0,-1 0 0,1 1 0,-1-1 0,0 1 0,0-1 0,-1 1 0,0-1 0,0 1 0,0 6 0,-2 9 0,-1 0 0,-1 0 0,-1-1 0,-13 37 0,15-48 0,-6 18 0,-2-1 0,0 0 0,-1-1 0,-16 23 0,24-43 0,1 0 0,-1 0 0,0 0 0,0-1 0,-1 1 0,1-1 0,-8 4 0,8-6 0,1 1 0,-1 0 0,1 1 0,0-1 0,0 1 0,0-1 0,0 1 0,0 0 0,0 0 0,1 1 0,-1-1 0,1 0 0,-2 4 0,-77 195 0,-10 22 0,86-215 11,0-1 0,0 1 0,0-1 0,-1 0 0,-1 0 0,1-1-1,-1 0 1,0 0 0,-1 0 0,-10 6 0,5-5-223,1-1 0,-2-1 0,1 0-1,-1 0 1,1-2 0,-19 5 0,-9 0-6614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364B8D-6CEA-4766-93C3-982E9EF652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BDF26-E2AC-48A5-B658-A32D89D7F6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9B954A-8C8B-4D2F-9684-B443319BC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9C697-713F-4911-B627-C3F10EB818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14EDC-84B4-4913-8932-CFB6F0EAC5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2E981-27FC-4FA0-9EF7-5D8AA73A1A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6057B-1A2E-4245-B4E3-C089982A0D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CFC50C-21DB-4D5D-9E15-EA11319D1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241AC-DCBF-41EB-898E-D7499FC1F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E885F-647E-4B97-A9CA-EAFF878463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3889C-0F1C-498E-AE4C-87DF0C2891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CDAC6-A568-4D2C-88D1-A681863B4A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0AF5F-9021-4976-B033-5BD0D025A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75871-CA94-4BF2-BAA1-2F0D121F31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14C1A-D5AD-44ED-BB27-2DED58928B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026A5-AE90-4577-BDD2-D8D928CDA7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124BF-057B-4CAB-BC2A-B82335BA5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DD6F80-2CD6-4EA5-9281-C72EAC5654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7C20C-E778-1559-1CD3-DAA43F46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F5C2A-E4A9-4E29-81FE-3292F88C3A9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" TargetMode="External"/><Relationship Id="rId7" Type="http://schemas.openxmlformats.org/officeDocument/2006/relationships/hyperlink" Target="https://mqtt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spressif.com/" TargetMode="External"/><Relationship Id="rId5" Type="http://schemas.openxmlformats.org/officeDocument/2006/relationships/hyperlink" Target="https://www.epilepsy.com/" TargetMode="External"/><Relationship Id="rId4" Type="http://schemas.openxmlformats.org/officeDocument/2006/relationships/hyperlink" Target="https://doi.org/10.1016/j.eswa.2012.12.071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ilepsy.com/" TargetMode="External"/><Relationship Id="rId7" Type="http://schemas.openxmlformats.org/officeDocument/2006/relationships/hyperlink" Target="https://owasp.org/www-project-top-ten/" TargetMode="External"/><Relationship Id="rId2" Type="http://schemas.openxmlformats.org/officeDocument/2006/relationships/hyperlink" Target="https://www.who.int/news-room/fact-sheets/detail/epileps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qtt.org/" TargetMode="External"/><Relationship Id="rId5" Type="http://schemas.openxmlformats.org/officeDocument/2006/relationships/hyperlink" Target="https://docs.espressif.com" TargetMode="External"/><Relationship Id="rId4" Type="http://schemas.openxmlformats.org/officeDocument/2006/relationships/hyperlink" Target="https://ieeexplore.ieee.org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400" cy="1416960"/>
          </a:xfrm>
          <a:prstGeom prst="rect">
            <a:avLst/>
          </a:prstGeom>
          <a:solidFill>
            <a:srgbClr val="0B2E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200880" cy="1416960"/>
          </a:xfrm>
          <a:prstGeom prst="rect">
            <a:avLst/>
          </a:prstGeom>
          <a:solidFill>
            <a:srgbClr val="2F6FB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2004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— Prototype Stage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89604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CE9F7"/>
                </a:solidFill>
                <a:effectLst/>
                <a:uFillTx/>
                <a:latin typeface="Calibri"/>
                <a:ea typeface="Calibri"/>
              </a:rPr>
              <a:t>Submission Deck Template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594360" y="1920240"/>
            <a:ext cx="6583320" cy="397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50320" y="2084760"/>
            <a:ext cx="607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50320" y="2423160"/>
            <a:ext cx="6071400" cy="33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dirty="0"/>
              <a:t>Team: </a:t>
            </a:r>
            <a:r>
              <a:rPr lang="en-US" dirty="0"/>
              <a:t>Panacea</a:t>
            </a:r>
            <a:r>
              <a:rPr dirty="0"/>
              <a:t>  </a:t>
            </a:r>
            <a:r>
              <a:rPr lang="en-US" dirty="0"/>
              <a:t>          </a:t>
            </a:r>
            <a:endParaRPr lang="en-IN" dirty="0"/>
          </a:p>
          <a:p>
            <a:r>
              <a:rPr dirty="0"/>
              <a:t>Team-ID: </a:t>
            </a:r>
            <a:r>
              <a:rPr lang="en-US" dirty="0"/>
              <a:t>p-2023-27-EI-010</a:t>
            </a:r>
            <a:endParaRPr lang="en-US" b="1" dirty="0">
              <a:ea typeface="Calibri"/>
              <a:cs typeface="Calibri"/>
            </a:endParaRPr>
          </a:p>
          <a:p>
            <a:r>
              <a:rPr dirty="0"/>
              <a:t>Lead: </a:t>
            </a:r>
            <a:r>
              <a:rPr lang="en-US" dirty="0"/>
              <a:t>Vaishnavi S</a:t>
            </a:r>
          </a:p>
          <a:p>
            <a:r>
              <a:rPr dirty="0"/>
              <a:t>Members:</a:t>
            </a:r>
            <a:r>
              <a:rPr lang="en-US" dirty="0"/>
              <a:t> Sruthi S, Vaishnavi R, </a:t>
            </a:r>
            <a:r>
              <a:rPr lang="en-US" dirty="0" err="1"/>
              <a:t>Trishali</a:t>
            </a:r>
            <a:r>
              <a:rPr lang="en-US" dirty="0"/>
              <a:t> SJ</a:t>
            </a:r>
          </a:p>
          <a:p>
            <a:r>
              <a:rPr dirty="0"/>
              <a:t>Mentor: </a:t>
            </a:r>
            <a:r>
              <a:rPr lang="en-US" dirty="0" err="1"/>
              <a:t>Mr.Sriram</a:t>
            </a:r>
            <a:r>
              <a:rPr lang="en-US" dirty="0"/>
              <a:t> R</a:t>
            </a:r>
            <a:r>
              <a:rPr dirty="0"/>
              <a:t>   </a:t>
            </a:r>
            <a:endParaRPr lang="en-IN" dirty="0"/>
          </a:p>
          <a:p>
            <a:r>
              <a:rPr dirty="0"/>
              <a:t>Lab Code: </a:t>
            </a:r>
            <a:r>
              <a:rPr lang="en-US" dirty="0"/>
              <a:t>EI</a:t>
            </a:r>
            <a:endParaRPr dirty="0">
              <a:ea typeface="Calibri"/>
              <a:cs typeface="Calibri"/>
            </a:endParaRPr>
          </a:p>
          <a:p>
            <a:r>
              <a:rPr dirty="0"/>
              <a:t>Cohort: [</a:t>
            </a:r>
            <a:r>
              <a:rPr lang="en-US" dirty="0"/>
              <a:t>2023-2027</a:t>
            </a:r>
            <a:r>
              <a:rPr dirty="0"/>
              <a:t>]   </a:t>
            </a:r>
            <a:endParaRPr lang="en-IN" dirty="0"/>
          </a:p>
          <a:p>
            <a:r>
              <a:rPr dirty="0"/>
              <a:t>Date: </a:t>
            </a:r>
            <a:r>
              <a:rPr lang="en-US" dirty="0"/>
              <a:t>[27-01-2026]</a:t>
            </a:r>
            <a:endParaRPr dirty="0">
              <a:ea typeface="Calibri"/>
              <a:cs typeface="Calibri"/>
            </a:endParaRPr>
          </a:p>
          <a:p>
            <a:endParaRPr dirty="0"/>
          </a:p>
        </p:txBody>
      </p:sp>
      <p:sp>
        <p:nvSpPr>
          <p:cNvPr id="17" name="Text 9"/>
          <p:cNvSpPr/>
          <p:nvPr/>
        </p:nvSpPr>
        <p:spPr>
          <a:xfrm>
            <a:off x="7754040" y="2084760"/>
            <a:ext cx="35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endParaRPr lang="en-US" sz="1600" b="1" u="none" strike="noStrike" dirty="0">
              <a:solidFill>
                <a:srgbClr val="111827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754040" y="2423160"/>
            <a:ext cx="3556800" cy="33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81E09-C34E-F88F-9E88-4033B0C8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040" y="2404440"/>
            <a:ext cx="3874434" cy="2578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Problem &amp; End-User Recap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296150" y="178326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881160" y="2307726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Problem statement 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4078080" y="2197166"/>
            <a:ext cx="7168680" cy="69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187880" y="236862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Epilepsy patients often experience seizures without immediate awareness or assistance, leading to delayed response, injury risk, and increased caregiver anxiety during unattended episodes.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793195" y="32463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Target end-user / context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032360" y="3136320"/>
            <a:ext cx="7168680" cy="51762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142160" y="3182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Epilepsy patients and their caregivers, primarily in home, hostel, workplace, and elderly-care settings during daily activities.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1116000" y="4093678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4078080" y="3984913"/>
            <a:ext cx="7168680" cy="5758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142160" y="4062426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caregiver interviews and secondary research highlighting delayed seizure detection and lack of continuous monitoring in non-clinical environments.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945240" y="484623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Success metric(s)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4078080" y="4891704"/>
            <a:ext cx="7168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187880" y="4916661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time to caregiver response, improved patient safety during seizure events, and increased confidence in unattended monitoring.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10940142" y="6620400"/>
            <a:ext cx="656897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3/23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SoI Innovation Pipeline</a:t>
            </a:r>
          </a:p>
        </p:txBody>
      </p:sp>
      <p:sp>
        <p:nvSpPr>
          <p:cNvPr id="3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IDEATION</a:t>
            </a: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Ideation Recap — Options Explored &amp; Selected Idea</a:t>
            </a:r>
          </a:p>
        </p:txBody>
      </p:sp>
      <p:sp>
        <p:nvSpPr>
          <p:cNvPr id="42" name="Text 6"/>
          <p:cNvSpPr/>
          <p:nvPr/>
        </p:nvSpPr>
        <p:spPr>
          <a:xfrm>
            <a:off x="594360" y="1275155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Ideation stage (ideas explored and selected for PoC).</a:t>
            </a:r>
          </a:p>
        </p:txBody>
      </p:sp>
      <p:sp>
        <p:nvSpPr>
          <p:cNvPr id="43" name="Shape 7"/>
          <p:cNvSpPr/>
          <p:nvPr/>
        </p:nvSpPr>
        <p:spPr>
          <a:xfrm>
            <a:off x="594360" y="1712070"/>
            <a:ext cx="10972440" cy="491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1057821" y="1865665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explored </a:t>
            </a:r>
          </a:p>
        </p:txBody>
      </p:sp>
      <p:sp>
        <p:nvSpPr>
          <p:cNvPr id="47" name="Shape 11"/>
          <p:cNvSpPr/>
          <p:nvPr/>
        </p:nvSpPr>
        <p:spPr>
          <a:xfrm>
            <a:off x="4019901" y="1832700"/>
            <a:ext cx="7168680" cy="97509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Wrist-Wearable Multimodal Detector</a:t>
            </a:r>
          </a:p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IN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</a:t>
            </a:r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b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(ML/DL)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129701" y="2198308"/>
            <a:ext cx="6949080" cy="4977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dirty="0"/>
          </a:p>
        </p:txBody>
      </p:sp>
      <p:sp>
        <p:nvSpPr>
          <p:cNvPr id="49" name="Text 13"/>
          <p:cNvSpPr/>
          <p:nvPr/>
        </p:nvSpPr>
        <p:spPr>
          <a:xfrm>
            <a:off x="814680" y="2935483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/>
              <a:t>Selected idea (taken to PoC)</a:t>
            </a:r>
          </a:p>
        </p:txBody>
      </p:sp>
      <p:sp>
        <p:nvSpPr>
          <p:cNvPr id="50" name="Shape 14"/>
          <p:cNvSpPr/>
          <p:nvPr/>
        </p:nvSpPr>
        <p:spPr>
          <a:xfrm>
            <a:off x="4014360" y="3051955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062840" y="3133016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Wrist-Wearable Multimodal Detector</a:t>
            </a:r>
          </a:p>
        </p:txBody>
      </p:sp>
      <p:sp>
        <p:nvSpPr>
          <p:cNvPr id="52" name="Text 16"/>
          <p:cNvSpPr/>
          <p:nvPr/>
        </p:nvSpPr>
        <p:spPr>
          <a:xfrm>
            <a:off x="814680" y="3757441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/>
              <a:t>Why selected (Design Thinking lenses)</a:t>
            </a:r>
          </a:p>
        </p:txBody>
      </p:sp>
      <p:sp>
        <p:nvSpPr>
          <p:cNvPr id="53" name="Shape 17"/>
          <p:cNvSpPr/>
          <p:nvPr/>
        </p:nvSpPr>
        <p:spPr>
          <a:xfrm>
            <a:off x="4014360" y="3660175"/>
            <a:ext cx="7168680" cy="170014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014360" y="4128445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Desirability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Always-on, hands-free safety for seizures—without disrupting daily life.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wrist-wearable sensors enable reliable, real-time multimodal detection.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wearable model scalable across home care and clinical settings.</a:t>
            </a:r>
          </a:p>
        </p:txBody>
      </p:sp>
      <p:sp>
        <p:nvSpPr>
          <p:cNvPr id="55" name="Text 19"/>
          <p:cNvSpPr/>
          <p:nvPr/>
        </p:nvSpPr>
        <p:spPr>
          <a:xfrm>
            <a:off x="778680" y="553638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 err="1"/>
              <a:t>MoSCoW</a:t>
            </a:r>
            <a:r>
              <a:rPr dirty="0"/>
              <a:t>: Must-have features for PoC</a:t>
            </a:r>
          </a:p>
        </p:txBody>
      </p:sp>
      <p:sp>
        <p:nvSpPr>
          <p:cNvPr id="56" name="Shape 20"/>
          <p:cNvSpPr/>
          <p:nvPr/>
        </p:nvSpPr>
        <p:spPr>
          <a:xfrm>
            <a:off x="3996360" y="5520887"/>
            <a:ext cx="7168680" cy="1132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3" anchor="t"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Must-Have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Continuous sensing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Seizure detection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alerts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Should-Have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logging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Threshold tuning</a:t>
            </a: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Could-Have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Location info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106160" y="5582845"/>
            <a:ext cx="6949080" cy="788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dirty="0"/>
          </a:p>
        </p:txBody>
      </p:sp>
      <p:sp>
        <p:nvSpPr>
          <p:cNvPr id="60" name="Text 24"/>
          <p:cNvSpPr/>
          <p:nvPr/>
        </p:nvSpPr>
        <p:spPr>
          <a:xfrm>
            <a:off x="10867696" y="6560820"/>
            <a:ext cx="729344" cy="260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200"/>
              <a:t>4/23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Recap — What We Built &amp; Learned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94360" y="182880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summary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960120" y="2514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built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4032360" y="2569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142160" y="2615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Wrist-wearable IoT seizure detection prototype with real-time caregiver alerts.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960120" y="3081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focus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032360" y="3136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142160" y="3182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of continuous sensing and instant alerting outside clinical settings.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960120" y="3648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evidence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4032360" y="3703320"/>
            <a:ext cx="7168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4142160" y="3749040"/>
            <a:ext cx="694908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 end-to-end detection-to-alert flow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Acceptable alert latency in test scenarios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905400" y="4519052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Key gaps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4032360" y="456300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4142160" y="459936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tuning, broader testing, and caregiver UI refinement.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10972800" y="6620400"/>
            <a:ext cx="6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5/23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Objectives &amp; Success Criteria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“success” means and how you will test.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59436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70416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Prototype objective / risk to reduce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4215240" y="1920240"/>
            <a:ext cx="1755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4325040" y="201168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59709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0807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794628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805572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we will test (prototype)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9436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seizure-like motion detection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4215240" y="237744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consistency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5970960" y="237744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abnormal motion patterns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794628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seizure-pattern motion tests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59436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real-time alerting works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4215240" y="3163680"/>
            <a:ext cx="17553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 success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6002522" y="3109320"/>
            <a:ext cx="197460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generated for detected events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794628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Trigger-to-alert verification logs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23"/>
          <p:cNvSpPr/>
          <p:nvPr/>
        </p:nvSpPr>
        <p:spPr>
          <a:xfrm>
            <a:off x="59436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false positives in daily activity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4215240" y="3978561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trigger rate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5970960" y="395028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Acceptable at PoC stage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794628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 (e.g., walking, gym-like motion) tests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Shape 27"/>
          <p:cNvSpPr/>
          <p:nvPr/>
        </p:nvSpPr>
        <p:spPr>
          <a:xfrm>
            <a:off x="594360" y="473652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8"/>
          <p:cNvSpPr/>
          <p:nvPr/>
        </p:nvSpPr>
        <p:spPr>
          <a:xfrm>
            <a:off x="4215240" y="4736520"/>
            <a:ext cx="17553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5970960" y="4736520"/>
            <a:ext cx="197460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0"/>
          <p:cNvSpPr/>
          <p:nvPr/>
        </p:nvSpPr>
        <p:spPr>
          <a:xfrm>
            <a:off x="7946280" y="473652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1"/>
          <p:cNvSpPr/>
          <p:nvPr/>
        </p:nvSpPr>
        <p:spPr>
          <a:xfrm>
            <a:off x="594360" y="552312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overall system functionality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Shape 32"/>
          <p:cNvSpPr/>
          <p:nvPr/>
        </p:nvSpPr>
        <p:spPr>
          <a:xfrm>
            <a:off x="4215240" y="552312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End-to-end system success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3"/>
          <p:cNvSpPr/>
          <p:nvPr/>
        </p:nvSpPr>
        <p:spPr>
          <a:xfrm>
            <a:off x="5970960" y="552312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System operates without 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4"/>
          <p:cNvSpPr/>
          <p:nvPr/>
        </p:nvSpPr>
        <p:spPr>
          <a:xfrm>
            <a:off x="7946280" y="552312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run testing with multiple events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6/23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ECB79E-5B2E-0343-F10E-E52277100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893093"/>
              </p:ext>
            </p:extLst>
          </p:nvPr>
        </p:nvGraphicFramePr>
        <p:xfrm>
          <a:off x="594000" y="4789624"/>
          <a:ext cx="10972800" cy="36576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397788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Assess need for multimodal sensing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4954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FC0278-2607-1072-AB47-D60A8BFE1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244864"/>
              </p:ext>
            </p:extLst>
          </p:nvPr>
        </p:nvGraphicFramePr>
        <p:xfrm>
          <a:off x="609600" y="4835557"/>
          <a:ext cx="3620520" cy="588132"/>
        </p:xfrm>
        <a:graphic>
          <a:graphicData uri="http://schemas.openxmlformats.org/drawingml/2006/table">
            <a:tbl>
              <a:tblPr/>
              <a:tblGrid>
                <a:gridCol w="3620520">
                  <a:extLst>
                    <a:ext uri="{9D8B030D-6E8A-4147-A177-3AD203B41FA5}">
                      <a16:colId xmlns:a16="http://schemas.microsoft.com/office/drawing/2014/main" val="748405212"/>
                    </a:ext>
                  </a:extLst>
                </a:gridCol>
              </a:tblGrid>
              <a:tr h="5881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92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1A77B84-8241-768E-B0E3-AF9BD6BCA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02129"/>
              </p:ext>
            </p:extLst>
          </p:nvPr>
        </p:nvGraphicFramePr>
        <p:xfrm>
          <a:off x="4214880" y="4829329"/>
          <a:ext cx="10972800" cy="6400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2804624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                GSR identified          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motion-only results vs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limitation               as improvement        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accuracy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5371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Choose Your Prototype Strategy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Pick ONE approach based on your biggest risk.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145800" y="1810172"/>
            <a:ext cx="10743840" cy="4169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850320" y="2084760"/>
            <a:ext cx="4859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Option A — Works-like functional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850320" y="2423160"/>
            <a:ext cx="9965164" cy="13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Wrist-wearable prototype proves real-time seizure monitoring and instant caregiver alerting in practice.</a:t>
            </a: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20"/>
          <p:cNvSpPr/>
          <p:nvPr/>
        </p:nvSpPr>
        <p:spPr>
          <a:xfrm>
            <a:off x="822960" y="6208920"/>
            <a:ext cx="10515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</a:t>
            </a:r>
            <a:r>
              <a:rPr lang="en-US" sz="10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Prototype Stage — Submission Deck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10961914" y="6620400"/>
            <a:ext cx="635126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7/23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DF69E-120F-B1B5-AFBD-FBF85C7C5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-4440455"/>
            <a:ext cx="9965164" cy="951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fully operational end-to-end workflow: sensor detection → IoT cloud → caregiver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Validates PoC technical feasibility and real-time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measurement of alert latency, detection consistency, and system uptime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areas for improvement, e.g., multimodal sensing (GSR)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early-stage testing of integration, connectivity, and power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tangible evidence for jury evaluation and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Strategy Option 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Works-like functional (integration &amp; metrics first)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594360" y="1874520"/>
            <a:ext cx="5668920" cy="4352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Choose this if…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6473880" y="1822569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Your plan (fill)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6903720" y="2487240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Why this fits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8289000" y="2581847"/>
            <a:ext cx="3232080" cy="44266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real-time seizure alerting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8398800" y="2587680"/>
            <a:ext cx="294288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6903720" y="3227299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v1 goal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8289000" y="3320802"/>
            <a:ext cx="3232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8398440" y="3331189"/>
            <a:ext cx="3012480" cy="4104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Detect seizure motion, send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US" sz="1400" dirty="0"/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6903720" y="3882530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Integrations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8289000" y="4002535"/>
            <a:ext cx="3232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8453520" y="4035924"/>
            <a:ext cx="301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+ ESP32 + IoT + alert.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6903720" y="4657766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Definition of Done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Shape 26"/>
          <p:cNvSpPr/>
          <p:nvPr/>
        </p:nvSpPr>
        <p:spPr>
          <a:xfrm>
            <a:off x="8289000" y="4711328"/>
            <a:ext cx="3232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8398440" y="4758368"/>
            <a:ext cx="301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with timely alert.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6903720" y="5404500"/>
            <a:ext cx="13849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Validation + metrics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Shape 29"/>
          <p:cNvSpPr/>
          <p:nvPr/>
        </p:nvSpPr>
        <p:spPr>
          <a:xfrm>
            <a:off x="8254200" y="5531181"/>
            <a:ext cx="3232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0"/>
          <p:cNvSpPr/>
          <p:nvPr/>
        </p:nvSpPr>
        <p:spPr>
          <a:xfrm>
            <a:off x="8398800" y="5531181"/>
            <a:ext cx="3012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latency, uptime.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Text 31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Keep this slide ONLY if you selected this option.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4"/>
          <p:cNvSpPr/>
          <p:nvPr/>
        </p:nvSpPr>
        <p:spPr>
          <a:xfrm>
            <a:off x="10929256" y="6584040"/>
            <a:ext cx="667783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8/23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78ACB-8C5E-E76E-6A0C-8484FCB48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43" y="2403004"/>
            <a:ext cx="48775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integration must be demonstrated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like accuracy and alert latency are critical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hardware components can be built and tested now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is on functional validation, not production scaling or polish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DF537-9B9A-9199-ABF3-95C0994BE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system integration must be demonstrated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 like accuracy and alert latency are critical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hardware components can be built and tested now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is on functional validation, not production scaling or polish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Scope, Requirements &amp; Constraints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you WILL build, and what you WON’T (for now).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594360" y="1874520"/>
            <a:ext cx="56232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850320" y="2039040"/>
            <a:ext cx="511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Scope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850320" y="2377440"/>
            <a:ext cx="51112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914400" y="251460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 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2409480" y="256932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2519280" y="261504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Wrist motion sensing, Seizure detection, IoT alert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914400" y="31363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Out of 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2409480" y="319140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2519280" y="323712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Medical certification, Advanced ML, Large trials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914400" y="375804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Assumptions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2409480" y="381312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2519280" y="385884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Internet, Simulated data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914400" y="43801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0"/>
          <p:cNvSpPr/>
          <p:nvPr/>
        </p:nvSpPr>
        <p:spPr>
          <a:xfrm>
            <a:off x="2409480" y="443484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2519280" y="448056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&amp; budget, Battery, Privacy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Shape 22"/>
          <p:cNvSpPr/>
          <p:nvPr/>
        </p:nvSpPr>
        <p:spPr>
          <a:xfrm>
            <a:off x="6492240" y="1874520"/>
            <a:ext cx="53946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6748200" y="2039040"/>
            <a:ext cx="488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Acceptance checks (3–5)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10755086" y="6620400"/>
            <a:ext cx="841954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12/23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FAC27-8F29-B35B-AACD-019070312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722" y="2594320"/>
            <a:ext cx="463163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 delivered to caregiver within ≤5 s (p95)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≥80% on simulated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alert rate ≤5% during normal motion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uptime ≥95% over continuous 30 min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cloud event logging latency ≤2 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System Overview — Architecture /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Show end-to-end flow. Mark simulated components clearly.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777240" y="2030040"/>
            <a:ext cx="1060668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9"/>
          <p:cNvSpPr/>
          <p:nvPr/>
        </p:nvSpPr>
        <p:spPr>
          <a:xfrm>
            <a:off x="594360" y="6126480"/>
            <a:ext cx="10972440" cy="383760"/>
          </a:xfrm>
          <a:prstGeom prst="roundRect">
            <a:avLst>
              <a:gd name="adj" fmla="val 16667"/>
            </a:avLst>
          </a:prstGeom>
          <a:solidFill>
            <a:srgbClr val="EEF6FF"/>
          </a:solidFill>
          <a:ln w="12700">
            <a:solidFill>
              <a:srgbClr val="B9D6F5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850319" y="61585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Minimum expectation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3049234" y="6172200"/>
            <a:ext cx="10460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400" dirty="0"/>
              <a:t>User → System → Output flow is clearly defined, with identifiable data signals and documented failure points.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0820400" y="6620400"/>
            <a:ext cx="776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13/23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0E79413-B23E-5C36-A5FA-D2D174AE6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E5BF67-50BD-A2FB-A56D-03BCE182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04" y="2433498"/>
            <a:ext cx="8535591" cy="19910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9F32FE-33F8-04DA-078F-5749E34A4D98}"/>
                  </a:ext>
                </a:extLst>
              </p14:cNvPr>
              <p14:cNvContentPartPr/>
              <p14:nvPr/>
            </p14:nvContentPartPr>
            <p14:xfrm>
              <a:off x="8358526" y="4610117"/>
              <a:ext cx="614520" cy="26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9F32FE-33F8-04DA-078F-5749E34A4D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40886" y="4592477"/>
                <a:ext cx="6501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78E83A-17F8-9F2B-1ED6-DD1D663E706F}"/>
                  </a:ext>
                </a:extLst>
              </p14:cNvPr>
              <p14:cNvContentPartPr/>
              <p14:nvPr/>
            </p14:nvContentPartPr>
            <p14:xfrm>
              <a:off x="9117766" y="4306277"/>
              <a:ext cx="461520" cy="428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78E83A-17F8-9F2B-1ED6-DD1D663E70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00126" y="4288277"/>
                <a:ext cx="497160" cy="46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Build Plan &amp; Timeline (Sprints)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Break work into 2–4 short sprints. Each ends with a </a:t>
            </a:r>
            <a:r>
              <a:rPr lang="en-US" sz="1600" b="0" u="none" strike="noStrike" dirty="0" err="1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demoable</a:t>
            </a: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 increment.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594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7041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Sprint / Week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2569320" y="1920240"/>
            <a:ext cx="4608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2679120" y="201168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tasks &amp; deliverables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7178040" y="1920240"/>
            <a:ext cx="24138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7287840" y="2011680"/>
            <a:ext cx="2194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Owner(s)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959220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97016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5"/>
          <p:cNvSpPr/>
          <p:nvPr/>
        </p:nvSpPr>
        <p:spPr>
          <a:xfrm>
            <a:off x="59436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Shape 16"/>
          <p:cNvSpPr/>
          <p:nvPr/>
        </p:nvSpPr>
        <p:spPr>
          <a:xfrm>
            <a:off x="2569320" y="237744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interfacing, Motion data acquisition, Basic threshold logic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7178040" y="237744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SRUTHI S</a:t>
            </a:r>
          </a:p>
        </p:txBody>
      </p:sp>
      <p:sp>
        <p:nvSpPr>
          <p:cNvPr id="350" name="Shape 18"/>
          <p:cNvSpPr/>
          <p:nvPr/>
        </p:nvSpPr>
        <p:spPr>
          <a:xfrm>
            <a:off x="959220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59436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Shape 20"/>
          <p:cNvSpPr/>
          <p:nvPr/>
        </p:nvSpPr>
        <p:spPr>
          <a:xfrm>
            <a:off x="2569320" y="3337560"/>
            <a:ext cx="46083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pattern detection logic, Microcontroller optimization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Shape 21"/>
          <p:cNvSpPr/>
          <p:nvPr/>
        </p:nvSpPr>
        <p:spPr>
          <a:xfrm>
            <a:off x="7178040" y="3337560"/>
            <a:ext cx="24138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VAISHNAVI R</a:t>
            </a:r>
          </a:p>
        </p:txBody>
      </p:sp>
      <p:sp>
        <p:nvSpPr>
          <p:cNvPr id="354" name="Shape 22"/>
          <p:cNvSpPr/>
          <p:nvPr/>
        </p:nvSpPr>
        <p:spPr>
          <a:xfrm>
            <a:off x="959220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Shape 23"/>
          <p:cNvSpPr/>
          <p:nvPr/>
        </p:nvSpPr>
        <p:spPr>
          <a:xfrm>
            <a:off x="59436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3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2569320" y="429768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cloud integration, Alert triggering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Shape 25"/>
          <p:cNvSpPr/>
          <p:nvPr/>
        </p:nvSpPr>
        <p:spPr>
          <a:xfrm>
            <a:off x="7178040" y="429768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SRUTHI S AND TRISHALI SJ</a:t>
            </a:r>
          </a:p>
        </p:txBody>
      </p:sp>
      <p:sp>
        <p:nvSpPr>
          <p:cNvPr id="358" name="Shape 26"/>
          <p:cNvSpPr/>
          <p:nvPr/>
        </p:nvSpPr>
        <p:spPr>
          <a:xfrm>
            <a:off x="959220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594360" y="525780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Shape 28"/>
          <p:cNvSpPr/>
          <p:nvPr/>
        </p:nvSpPr>
        <p:spPr>
          <a:xfrm>
            <a:off x="2569320" y="5257800"/>
            <a:ext cx="46083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tuning, Documentation, Demo video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1" name="Shape 29"/>
          <p:cNvSpPr/>
          <p:nvPr/>
        </p:nvSpPr>
        <p:spPr>
          <a:xfrm>
            <a:off x="7178040" y="5257800"/>
            <a:ext cx="24138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VAISHNAVI S</a:t>
            </a:r>
          </a:p>
        </p:txBody>
      </p:sp>
      <p:sp>
        <p:nvSpPr>
          <p:cNvPr id="362" name="Shape 30"/>
          <p:cNvSpPr/>
          <p:nvPr/>
        </p:nvSpPr>
        <p:spPr>
          <a:xfrm>
            <a:off x="9592200" y="525780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Text 31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Tip: Use “Definition of Done” for each sprint (demoable + evidence captured).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4"/>
          <p:cNvSpPr/>
          <p:nvPr/>
        </p:nvSpPr>
        <p:spPr>
          <a:xfrm>
            <a:off x="10831286" y="6620400"/>
            <a:ext cx="765754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14/23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Resources, BOM &amp; Budget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dirty="0"/>
              <a:t>List what you need. Keep it realistic and within constraints. (BOM = Bill of Materials)</a:t>
            </a:r>
          </a:p>
        </p:txBody>
      </p:sp>
      <p:sp>
        <p:nvSpPr>
          <p:cNvPr id="375" name="Text 8"/>
          <p:cNvSpPr/>
          <p:nvPr/>
        </p:nvSpPr>
        <p:spPr>
          <a:xfrm>
            <a:off x="704160" y="2011680"/>
            <a:ext cx="3730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Item / resource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0"/>
          <p:cNvSpPr/>
          <p:nvPr/>
        </p:nvSpPr>
        <p:spPr>
          <a:xfrm>
            <a:off x="465444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619056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Unit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772668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97016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2"/>
          <p:cNvSpPr/>
          <p:nvPr/>
        </p:nvSpPr>
        <p:spPr>
          <a:xfrm>
            <a:off x="594360" y="5984494"/>
            <a:ext cx="10972440" cy="38376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3"/>
          <p:cNvSpPr/>
          <p:nvPr/>
        </p:nvSpPr>
        <p:spPr>
          <a:xfrm>
            <a:off x="740700" y="6051548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Budget tip: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4"/>
          <p:cNvSpPr/>
          <p:nvPr/>
        </p:nvSpPr>
        <p:spPr>
          <a:xfrm>
            <a:off x="1882937" y="6005648"/>
            <a:ext cx="9568363" cy="442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100" dirty="0"/>
          </a:p>
        </p:txBody>
      </p:sp>
      <p:sp>
        <p:nvSpPr>
          <p:cNvPr id="412" name="Shape 4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7"/>
          <p:cNvSpPr/>
          <p:nvPr/>
        </p:nvSpPr>
        <p:spPr>
          <a:xfrm>
            <a:off x="10831286" y="6620400"/>
            <a:ext cx="765754" cy="2509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15/23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0612FE-FDE3-E148-1010-8D526A476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14112"/>
              </p:ext>
            </p:extLst>
          </p:nvPr>
        </p:nvGraphicFramePr>
        <p:xfrm>
          <a:off x="840495" y="1824446"/>
          <a:ext cx="10485230" cy="3981852"/>
        </p:xfrm>
        <a:graphic>
          <a:graphicData uri="http://schemas.openxmlformats.org/drawingml/2006/table">
            <a:tbl>
              <a:tblPr/>
              <a:tblGrid>
                <a:gridCol w="2097046">
                  <a:extLst>
                    <a:ext uri="{9D8B030D-6E8A-4147-A177-3AD203B41FA5}">
                      <a16:colId xmlns:a16="http://schemas.microsoft.com/office/drawing/2014/main" val="3687125552"/>
                    </a:ext>
                  </a:extLst>
                </a:gridCol>
                <a:gridCol w="2097046">
                  <a:extLst>
                    <a:ext uri="{9D8B030D-6E8A-4147-A177-3AD203B41FA5}">
                      <a16:colId xmlns:a16="http://schemas.microsoft.com/office/drawing/2014/main" val="2322038543"/>
                    </a:ext>
                  </a:extLst>
                </a:gridCol>
                <a:gridCol w="2097046">
                  <a:extLst>
                    <a:ext uri="{9D8B030D-6E8A-4147-A177-3AD203B41FA5}">
                      <a16:colId xmlns:a16="http://schemas.microsoft.com/office/drawing/2014/main" val="3765070296"/>
                    </a:ext>
                  </a:extLst>
                </a:gridCol>
                <a:gridCol w="2097046">
                  <a:extLst>
                    <a:ext uri="{9D8B030D-6E8A-4147-A177-3AD203B41FA5}">
                      <a16:colId xmlns:a16="http://schemas.microsoft.com/office/drawing/2014/main" val="2096493175"/>
                    </a:ext>
                  </a:extLst>
                </a:gridCol>
                <a:gridCol w="2097046">
                  <a:extLst>
                    <a:ext uri="{9D8B030D-6E8A-4147-A177-3AD203B41FA5}">
                      <a16:colId xmlns:a16="http://schemas.microsoft.com/office/drawing/2014/main" val="996854075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 / Resource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Cost (₹)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572334"/>
                  </a:ext>
                </a:extLst>
              </a:tr>
              <a:tr h="56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DevKit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V1 (Wi-Fi + Bluetooth)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/ Lab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controller &amp; IoT connectivity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863050"/>
                  </a:ext>
                </a:extLst>
              </a:tr>
              <a:tr h="811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MPU6050 (Accelerometer + Gyroscope)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seizure motion detection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53538"/>
                  </a:ext>
                </a:extLst>
              </a:tr>
              <a:tr h="56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MAX30102 (Heart Rate + SpO₂)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Physiological monitoring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38742"/>
                  </a:ext>
                </a:extLst>
              </a:tr>
              <a:tr h="56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GSR / EDA Sensor Module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 response detection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69783"/>
                  </a:ext>
                </a:extLst>
              </a:tr>
              <a:tr h="56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Li-Po Battery 3.7 V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for wearable device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792045"/>
                  </a:ext>
                </a:extLst>
              </a:tr>
              <a:tr h="568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TP4056 Charging Module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charging &amp; protection</a:t>
                      </a:r>
                    </a:p>
                  </a:txBody>
                  <a:tcPr marL="81157" marR="81157" marT="40578" marB="405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10662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5A717023-10B1-583B-A36C-14933D6EA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937" y="6060123"/>
            <a:ext cx="944278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Team-funded using student cloud credits and provided platforms, with minimal essential hardware spend.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Validation Plan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What you will show, how you will test, and what evidence you will capture.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594360" y="18745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Demo scenario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is powered ON and connected to Wi-Fi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Motion, heart-rate, SpO₂, and GSR data are continuously monitored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seizure-like motion is performed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detects abnormal pattern and triggers alert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notification is sent to caregiver (mobile / IoT dashboard)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is logged on the cloud with timestamp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Mentors / Judges / Peers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2 min MP4 upload (MS Forms) + live backup</a:t>
            </a:r>
          </a:p>
        </p:txBody>
      </p:sp>
      <p:sp>
        <p:nvSpPr>
          <p:cNvPr id="425" name="Shape 10"/>
          <p:cNvSpPr/>
          <p:nvPr/>
        </p:nvSpPr>
        <p:spPr>
          <a:xfrm>
            <a:off x="6537960" y="187452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Validation protocols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sz="1400" b="1" dirty="0"/>
              <a:t>Test cases / sample size:</a:t>
            </a:r>
            <a:br>
              <a:rPr lang="en-IN" sz="1400" dirty="0"/>
            </a:br>
            <a:r>
              <a:rPr lang="en-IN" sz="1400" dirty="0"/>
              <a:t>10–15 simulated seizure and normal activity cases</a:t>
            </a:r>
          </a:p>
          <a:p>
            <a:r>
              <a:rPr lang="en-IN" sz="1400" b="1" dirty="0"/>
              <a:t>Environment (#runs):</a:t>
            </a:r>
            <a:br>
              <a:rPr lang="en-IN" sz="1400" dirty="0"/>
            </a:br>
            <a:r>
              <a:rPr lang="en-IN" sz="1400" dirty="0"/>
              <a:t>Indoor lab; 3–5 runs per case</a:t>
            </a:r>
          </a:p>
          <a:p>
            <a:r>
              <a:rPr lang="en-IN" sz="1400" b="1" dirty="0"/>
              <a:t>Measured metrics:</a:t>
            </a:r>
            <a:br>
              <a:rPr lang="en-IN" sz="1400" dirty="0"/>
            </a:br>
            <a:r>
              <a:rPr lang="en-IN" sz="1400" dirty="0"/>
              <a:t>Detection accuracy, alert latency, false alerts, system uptime</a:t>
            </a:r>
          </a:p>
          <a:p>
            <a:r>
              <a:rPr lang="en-IN" sz="1400" b="1" dirty="0"/>
              <a:t>Pass/fail thresholds:</a:t>
            </a:r>
            <a:br>
              <a:rPr lang="en-IN" sz="1400" dirty="0"/>
            </a:br>
            <a:r>
              <a:rPr lang="en-IN" sz="1400" dirty="0"/>
              <a:t>Accuracy ≥80%, alert ≤5 s, false alerts ≤5%</a:t>
            </a:r>
          </a:p>
          <a:p>
            <a:r>
              <a:rPr lang="en-IN" sz="1400" b="1" dirty="0"/>
              <a:t>Usability check:</a:t>
            </a:r>
            <a:br>
              <a:rPr lang="en-IN" sz="1400" dirty="0"/>
            </a:br>
            <a:r>
              <a:rPr lang="en-IN" sz="1400" dirty="0"/>
              <a:t>Team members wore device; comfort, ease of use, and alert clarity observed</a:t>
            </a:r>
          </a:p>
        </p:txBody>
      </p:sp>
      <p:sp>
        <p:nvSpPr>
          <p:cNvPr id="428" name="Shape 13"/>
          <p:cNvSpPr/>
          <p:nvPr/>
        </p:nvSpPr>
        <p:spPr>
          <a:xfrm>
            <a:off x="594360" y="6163200"/>
            <a:ext cx="10972440" cy="3470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822960" y="6226920"/>
            <a:ext cx="10515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A3412"/>
                </a:solidFill>
                <a:effectLst/>
                <a:uFillTx/>
                <a:latin typeface="Calibri"/>
                <a:ea typeface="Calibri"/>
              </a:rPr>
              <a:t>Pre-demo checklist: reset state • charge/power • stable network / hotspots • safety • backup video/screenshots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10863942" y="6620400"/>
            <a:ext cx="733097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16/23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Evidence — Prototype Results &amp; Iterations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Show what improved from v1 → v2, with evidence.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594360" y="1920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70416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2130480" y="1920240"/>
            <a:ext cx="285264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2240280" y="2011680"/>
            <a:ext cx="2633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changed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498348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2"/>
          <p:cNvSpPr/>
          <p:nvPr/>
        </p:nvSpPr>
        <p:spPr>
          <a:xfrm>
            <a:off x="509328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run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3"/>
          <p:cNvSpPr/>
          <p:nvPr/>
        </p:nvSpPr>
        <p:spPr>
          <a:xfrm>
            <a:off x="717804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728784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937260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948240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 link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7"/>
          <p:cNvSpPr/>
          <p:nvPr/>
        </p:nvSpPr>
        <p:spPr>
          <a:xfrm>
            <a:off x="594360" y="237744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v1.0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" name="Shape 18"/>
          <p:cNvSpPr/>
          <p:nvPr/>
        </p:nvSpPr>
        <p:spPr>
          <a:xfrm>
            <a:off x="2130480" y="237744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motion-based seizure detection using MPU6050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498348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simulated seizure &amp; normal activity tests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Shape 20"/>
          <p:cNvSpPr/>
          <p:nvPr/>
        </p:nvSpPr>
        <p:spPr>
          <a:xfrm>
            <a:off x="717804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~70%, some false alerts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Shape 21"/>
          <p:cNvSpPr/>
          <p:nvPr/>
        </p:nvSpPr>
        <p:spPr>
          <a:xfrm>
            <a:off x="937260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logs, serial monitor screenshots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Shape 22"/>
          <p:cNvSpPr/>
          <p:nvPr/>
        </p:nvSpPr>
        <p:spPr>
          <a:xfrm>
            <a:off x="594360" y="3337560"/>
            <a:ext cx="15357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v1.1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" name="Shape 23"/>
          <p:cNvSpPr/>
          <p:nvPr/>
        </p:nvSpPr>
        <p:spPr>
          <a:xfrm>
            <a:off x="2130480" y="3337560"/>
            <a:ext cx="28526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/>
              <a:t>Threshold tuning + noise filtering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4"/>
          <p:cNvSpPr/>
          <p:nvPr/>
        </p:nvSpPr>
        <p:spPr>
          <a:xfrm>
            <a:off x="498348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repeated lab tests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Shape 25"/>
          <p:cNvSpPr/>
          <p:nvPr/>
        </p:nvSpPr>
        <p:spPr>
          <a:xfrm>
            <a:off x="717804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improved to ~80%, reduced false alerts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9" name="Shape 26"/>
          <p:cNvSpPr/>
          <p:nvPr/>
        </p:nvSpPr>
        <p:spPr>
          <a:xfrm>
            <a:off x="937260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logs, comparison chart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" name="Shape 27"/>
          <p:cNvSpPr/>
          <p:nvPr/>
        </p:nvSpPr>
        <p:spPr>
          <a:xfrm>
            <a:off x="594360" y="429768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v1.2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Shape 28"/>
          <p:cNvSpPr/>
          <p:nvPr/>
        </p:nvSpPr>
        <p:spPr>
          <a:xfrm>
            <a:off x="2130480" y="429768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heart rate &amp; SpO₂ (MAX30102)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2" name="Shape 29"/>
          <p:cNvSpPr/>
          <p:nvPr/>
        </p:nvSpPr>
        <p:spPr>
          <a:xfrm>
            <a:off x="498348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multimodal test runs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3" name="Shape 30"/>
          <p:cNvSpPr/>
          <p:nvPr/>
        </p:nvSpPr>
        <p:spPr>
          <a:xfrm>
            <a:off x="717804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 during seizure-like motion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4" name="Shape 31"/>
          <p:cNvSpPr/>
          <p:nvPr/>
        </p:nvSpPr>
        <p:spPr>
          <a:xfrm>
            <a:off x="937260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dashboard screenshots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Shape 32"/>
          <p:cNvSpPr/>
          <p:nvPr/>
        </p:nvSpPr>
        <p:spPr>
          <a:xfrm>
            <a:off x="594360" y="5257800"/>
            <a:ext cx="15357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v1.3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" name="Shape 33"/>
          <p:cNvSpPr/>
          <p:nvPr/>
        </p:nvSpPr>
        <p:spPr>
          <a:xfrm>
            <a:off x="2130480" y="5257800"/>
            <a:ext cx="28526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alert optimization &amp; latency reduction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Shape 34"/>
          <p:cNvSpPr/>
          <p:nvPr/>
        </p:nvSpPr>
        <p:spPr>
          <a:xfrm>
            <a:off x="498348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/>
              <a:t>10 end-to-end alert tests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5"/>
          <p:cNvSpPr/>
          <p:nvPr/>
        </p:nvSpPr>
        <p:spPr>
          <a:xfrm>
            <a:off x="717804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delivered within ≤5 seconds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Shape 36"/>
          <p:cNvSpPr/>
          <p:nvPr/>
        </p:nvSpPr>
        <p:spPr>
          <a:xfrm>
            <a:off x="9372600" y="525780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notification screenshots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Text 37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Include screenshots/photos/logs. Don’t hide failures — show what you learned and fixed.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9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0"/>
          <p:cNvSpPr/>
          <p:nvPr/>
        </p:nvSpPr>
        <p:spPr>
          <a:xfrm>
            <a:off x="10874828" y="6620400"/>
            <a:ext cx="722211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17/23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Artifacts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Make it easy for reviewers to verify quickly.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7"/>
          <p:cNvSpPr/>
          <p:nvPr/>
        </p:nvSpPr>
        <p:spPr>
          <a:xfrm>
            <a:off x="594360" y="1874520"/>
            <a:ext cx="69490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8"/>
          <p:cNvSpPr/>
          <p:nvPr/>
        </p:nvSpPr>
        <p:spPr>
          <a:xfrm>
            <a:off x="850320" y="2039040"/>
            <a:ext cx="643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Links (paste)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9"/>
          <p:cNvSpPr/>
          <p:nvPr/>
        </p:nvSpPr>
        <p:spPr>
          <a:xfrm>
            <a:off x="850320" y="2377440"/>
            <a:ext cx="64371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914400" y="2514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400"/>
              <a:t>Demo video file upload (MP4, ≤2 min)</a:t>
            </a:r>
          </a:p>
        </p:txBody>
      </p:sp>
      <p:sp>
        <p:nvSpPr>
          <p:cNvPr id="485" name="Shape 11"/>
          <p:cNvSpPr/>
          <p:nvPr/>
        </p:nvSpPr>
        <p:spPr>
          <a:xfrm>
            <a:off x="2807280" y="2569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2917080" y="2615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https://drive.google.com/file/d/1lBbvjGxEv0AXrCb9iobGjU3irqRPyazj/view?usp=sharing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87" name="Text 13"/>
          <p:cNvSpPr/>
          <p:nvPr/>
        </p:nvSpPr>
        <p:spPr>
          <a:xfrm>
            <a:off x="914400" y="3081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Repository URL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2807280" y="3136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5"/>
          <p:cNvSpPr/>
          <p:nvPr/>
        </p:nvSpPr>
        <p:spPr>
          <a:xfrm>
            <a:off x="2917080" y="3182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111827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https://github.com/wyyshuu/IoT-Enabled-Seizure-Detection-And-Alert-System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914400" y="3648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Build files (CAD/PCB)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>
            <a:off x="2807280" y="374904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2917080" y="3749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https://drive.google.com/file/d/1ispOiKxgz8AQfO_NrNrS5jKaz5gKN-39/view?usp=sharing 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9"/>
          <p:cNvSpPr/>
          <p:nvPr/>
        </p:nvSpPr>
        <p:spPr>
          <a:xfrm>
            <a:off x="914400" y="4215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Dataset / logs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0"/>
          <p:cNvSpPr/>
          <p:nvPr/>
        </p:nvSpPr>
        <p:spPr>
          <a:xfrm>
            <a:off x="2590800" y="423396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1"/>
          <p:cNvSpPr/>
          <p:nvPr/>
        </p:nvSpPr>
        <p:spPr>
          <a:xfrm>
            <a:off x="2917080" y="4316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https://drive.google.com/file/d/1r71RI_9Jo-k-Ro39XxciJXw1hZyLUdi7/view?usp=sharing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914400" y="4782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Release / 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3"/>
          <p:cNvSpPr/>
          <p:nvPr/>
        </p:nvSpPr>
        <p:spPr>
          <a:xfrm>
            <a:off x="2807280" y="4837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4"/>
          <p:cNvSpPr/>
          <p:nvPr/>
        </p:nvSpPr>
        <p:spPr>
          <a:xfrm>
            <a:off x="2917080" y="4883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[v1.0-prototype]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5"/>
          <p:cNvSpPr/>
          <p:nvPr/>
        </p:nvSpPr>
        <p:spPr>
          <a:xfrm>
            <a:off x="7772400" y="1874520"/>
            <a:ext cx="37944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6"/>
          <p:cNvSpPr/>
          <p:nvPr/>
        </p:nvSpPr>
        <p:spPr>
          <a:xfrm>
            <a:off x="8028360" y="2039040"/>
            <a:ext cx="3282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QR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8028360" y="2377440"/>
            <a:ext cx="32824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dirty="0"/>
          </a:p>
        </p:txBody>
      </p:sp>
      <p:sp>
        <p:nvSpPr>
          <p:cNvPr id="502" name="Shape 28"/>
          <p:cNvSpPr/>
          <p:nvPr/>
        </p:nvSpPr>
        <p:spPr>
          <a:xfrm>
            <a:off x="8458200" y="2926080"/>
            <a:ext cx="2422800" cy="242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9"/>
          <p:cNvSpPr/>
          <p:nvPr/>
        </p:nvSpPr>
        <p:spPr>
          <a:xfrm>
            <a:off x="8458200" y="544068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[Paste QR image here]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2"/>
          <p:cNvSpPr/>
          <p:nvPr/>
        </p:nvSpPr>
        <p:spPr>
          <a:xfrm>
            <a:off x="10881000" y="6620400"/>
            <a:ext cx="716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18/23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7AE16-0FCA-B56D-9E85-5DF80A691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636" y="2638712"/>
            <a:ext cx="3295044" cy="3326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Risks, Limitations &amp; Mitigations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Be honest. Show how you will reduce risk before MVP.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7"/>
          <p:cNvSpPr/>
          <p:nvPr/>
        </p:nvSpPr>
        <p:spPr>
          <a:xfrm>
            <a:off x="594360" y="1920240"/>
            <a:ext cx="37303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8"/>
          <p:cNvSpPr/>
          <p:nvPr/>
        </p:nvSpPr>
        <p:spPr>
          <a:xfrm>
            <a:off x="704160" y="2011680"/>
            <a:ext cx="3511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 / limitation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9"/>
          <p:cNvSpPr/>
          <p:nvPr/>
        </p:nvSpPr>
        <p:spPr>
          <a:xfrm>
            <a:off x="432504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0"/>
          <p:cNvSpPr/>
          <p:nvPr/>
        </p:nvSpPr>
        <p:spPr>
          <a:xfrm>
            <a:off x="44348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Impact (L/M/H)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1"/>
          <p:cNvSpPr/>
          <p:nvPr/>
        </p:nvSpPr>
        <p:spPr>
          <a:xfrm>
            <a:off x="6300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2"/>
          <p:cNvSpPr/>
          <p:nvPr/>
        </p:nvSpPr>
        <p:spPr>
          <a:xfrm>
            <a:off x="640980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Likelihood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3"/>
          <p:cNvSpPr/>
          <p:nvPr/>
        </p:nvSpPr>
        <p:spPr>
          <a:xfrm>
            <a:off x="8275320" y="1920240"/>
            <a:ext cx="329148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4"/>
          <p:cNvSpPr/>
          <p:nvPr/>
        </p:nvSpPr>
        <p:spPr>
          <a:xfrm>
            <a:off x="8385120" y="201168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Mitigation / next 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5"/>
          <p:cNvSpPr/>
          <p:nvPr/>
        </p:nvSpPr>
        <p:spPr>
          <a:xfrm>
            <a:off x="594360" y="237744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False seizure alerts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3" name="Shape 16"/>
          <p:cNvSpPr/>
          <p:nvPr/>
        </p:nvSpPr>
        <p:spPr>
          <a:xfrm>
            <a:off x="4325039" y="2363063"/>
            <a:ext cx="1787695" cy="782257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Arial"/>
              </a:rPr>
              <a:t>High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Shape 17"/>
          <p:cNvSpPr/>
          <p:nvPr/>
        </p:nvSpPr>
        <p:spPr>
          <a:xfrm>
            <a:off x="630036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Arial"/>
              </a:rPr>
              <a:t>Medium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Shape 18"/>
          <p:cNvSpPr/>
          <p:nvPr/>
        </p:nvSpPr>
        <p:spPr>
          <a:xfrm>
            <a:off x="8275320" y="237744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Improve detection thresholds; multi-sensor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6" name="Shape 19"/>
          <p:cNvSpPr/>
          <p:nvPr/>
        </p:nvSpPr>
        <p:spPr>
          <a:xfrm>
            <a:off x="594360" y="314568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Missed seizure events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7" name="Shape 20"/>
          <p:cNvSpPr/>
          <p:nvPr/>
        </p:nvSpPr>
        <p:spPr>
          <a:xfrm>
            <a:off x="432504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Arial"/>
              </a:rPr>
              <a:t>High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8" name="Shape 21"/>
          <p:cNvSpPr/>
          <p:nvPr/>
        </p:nvSpPr>
        <p:spPr>
          <a:xfrm>
            <a:off x="630036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Arial"/>
              </a:rPr>
              <a:t>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29" name="Shape 22"/>
          <p:cNvSpPr/>
          <p:nvPr/>
        </p:nvSpPr>
        <p:spPr>
          <a:xfrm>
            <a:off x="8275320" y="314568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Increase sensor sensitivity; extended testing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30" name="Shape 23"/>
          <p:cNvSpPr/>
          <p:nvPr/>
        </p:nvSpPr>
        <p:spPr>
          <a:xfrm>
            <a:off x="594360" y="391356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Battery drain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1" name="Shape 24"/>
          <p:cNvSpPr/>
          <p:nvPr/>
        </p:nvSpPr>
        <p:spPr>
          <a:xfrm>
            <a:off x="432504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Medium</a:t>
            </a:r>
            <a:r>
              <a:rPr lang="en-US" sz="1800" dirty="0">
                <a:latin typeface="Arial"/>
                <a:ea typeface="Arial"/>
                <a:cs typeface="Arial"/>
              </a:rPr>
              <a:t>​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25"/>
          <p:cNvSpPr/>
          <p:nvPr/>
        </p:nvSpPr>
        <p:spPr>
          <a:xfrm>
            <a:off x="630036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Medium</a:t>
            </a:r>
            <a:r>
              <a:rPr lang="en-US" sz="1800" dirty="0">
                <a:latin typeface="Arial"/>
                <a:ea typeface="Arial"/>
                <a:cs typeface="Arial"/>
              </a:rPr>
              <a:t>​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26"/>
          <p:cNvSpPr/>
          <p:nvPr/>
        </p:nvSpPr>
        <p:spPr>
          <a:xfrm>
            <a:off x="8275320" y="391356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Power optimization; sleep modes; battery testing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4" name="Shape 27"/>
          <p:cNvSpPr/>
          <p:nvPr/>
        </p:nvSpPr>
        <p:spPr>
          <a:xfrm>
            <a:off x="594360" y="468180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Network connectivity loss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5" name="Shape 28"/>
          <p:cNvSpPr/>
          <p:nvPr/>
        </p:nvSpPr>
        <p:spPr>
          <a:xfrm>
            <a:off x="432504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Medium</a:t>
            </a:r>
            <a:r>
              <a:rPr lang="en-US" sz="1800" dirty="0">
                <a:latin typeface="Arial"/>
                <a:ea typeface="Arial"/>
                <a:cs typeface="Arial"/>
              </a:rPr>
              <a:t>​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9"/>
          <p:cNvSpPr/>
          <p:nvPr/>
        </p:nvSpPr>
        <p:spPr>
          <a:xfrm>
            <a:off x="630036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Low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7" name="Shape 30"/>
          <p:cNvSpPr/>
          <p:nvPr/>
        </p:nvSpPr>
        <p:spPr>
          <a:xfrm>
            <a:off x="8275320" y="468180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Local buffering; retry logic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8" name="Shape 31"/>
          <p:cNvSpPr/>
          <p:nvPr/>
        </p:nvSpPr>
        <p:spPr>
          <a:xfrm>
            <a:off x="594360" y="544968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Data privacy concerns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39" name="Shape 32"/>
          <p:cNvSpPr/>
          <p:nvPr/>
        </p:nvSpPr>
        <p:spPr>
          <a:xfrm>
            <a:off x="4325040" y="544968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High</a:t>
            </a:r>
            <a:r>
              <a:rPr lang="en-US" sz="1800" dirty="0">
                <a:latin typeface="Arial"/>
                <a:ea typeface="Arial"/>
                <a:cs typeface="Arial"/>
              </a:rPr>
              <a:t>​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3"/>
          <p:cNvSpPr/>
          <p:nvPr/>
        </p:nvSpPr>
        <p:spPr>
          <a:xfrm>
            <a:off x="6300360" y="544968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aseline="0" dirty="0">
                <a:latin typeface="Times New Roman"/>
                <a:cs typeface="Times New Roman"/>
              </a:rPr>
              <a:t>Low</a:t>
            </a:r>
            <a:r>
              <a:rPr lang="en-US" sz="1800" dirty="0">
                <a:latin typeface="Arial"/>
                <a:ea typeface="Arial"/>
                <a:cs typeface="Arial"/>
              </a:rPr>
              <a:t>​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34"/>
          <p:cNvSpPr/>
          <p:nvPr/>
        </p:nvSpPr>
        <p:spPr>
          <a:xfrm>
            <a:off x="8275320" y="544968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No PII stored; encrypted data transfer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42" name="Text 35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Include: data access, safety, privacy, integration, performance, stakeholder approvals.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38"/>
          <p:cNvSpPr/>
          <p:nvPr/>
        </p:nvSpPr>
        <p:spPr>
          <a:xfrm>
            <a:off x="10853057" y="6620400"/>
            <a:ext cx="743982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19/23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 / Refine / Pivot &amp; Next Steps → MVP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Decision must be tied to evidence (not opinion).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594360" y="18745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Decision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Decision: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REFINE &amp; RE-TEST</a:t>
            </a:r>
            <a:endParaRPr lang="en-US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dirty="0">
              <a:solidFill>
                <a:srgbClr val="4B5563"/>
              </a:solidFill>
              <a:latin typeface="Times New Roman"/>
              <a:ea typeface="Calibri"/>
              <a:cs typeface="Calibri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Rationale (tie to metrics):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Detection accuracy ~80% vs target ≥85%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Alert latency meets target (≤10 sec)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Battery runtime needs improvement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6537960" y="187452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Next steps toward MVP (not MVP itself)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Next steps toward MVP: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Improve detection algorithm; reduce false alerts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Optimize power management and battery life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Pilot test with limited real users and caregivers</a:t>
            </a:r>
            <a:endParaRPr lang="en-US">
              <a:latin typeface="Times New Roman"/>
              <a:cs typeface="Times New Roman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b="0" u="none" strike="noStrike" dirty="0">
              <a:solidFill>
                <a:srgbClr val="4B5563"/>
              </a:solidFill>
              <a:effectLst/>
              <a:uFillTx/>
              <a:latin typeface="Times New Roman"/>
              <a:ea typeface="Calibri"/>
              <a:cs typeface="Calibri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KPIs to carry forward: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Detection accuracy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Alert latency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False alert rate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4B5563"/>
                </a:solidFill>
                <a:latin typeface="Times New Roman"/>
                <a:ea typeface="+mn-lt"/>
                <a:cs typeface="+mn-lt"/>
              </a:rPr>
              <a:t> • Battery runtime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59" name="Text 13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Reminder: MVP stage = real end-user pilot + feedback loops. Prototype stage focuses on integration + controlled usability checks.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5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10874828" y="6620400"/>
            <a:ext cx="722211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20/23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Cite datasets, papers, APIs, libraries, and external assets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594360" y="1965960"/>
            <a:ext cx="10972440" cy="448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References:</a:t>
            </a: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[1] J.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Gotman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, “Automatic detection of seizures and spikes,” </a:t>
            </a:r>
            <a:r>
              <a:rPr lang="en-US" i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IEEE Trans. Biomed. Eng.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, 1999.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hlinkClick r:id="rId3"/>
              </a:rPr>
              <a:t>https://ieeexplore.ieee.org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(accessed 2026-01-25).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[2] U. R. Acharya et al., “Automated diagnosis of epilepsy using EEG signals,” </a:t>
            </a:r>
            <a:r>
              <a:rPr lang="en-US" i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Expert Systems with Applications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, 2013.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hlinkClick r:id="rId4"/>
              </a:rPr>
              <a:t>https://doi.org/10.1016/j.eswa.2012.12.071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(accessed 2026-01-25).</a:t>
            </a:r>
          </a:p>
          <a:p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[3] Epilepsy Foundation, “Seizure safety and response,”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hlinkClick r:id="rId5"/>
              </a:rPr>
              <a:t>https://www.epilepsy.com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(accessed 2026-01-25).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[4]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Espressif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Systems, “ESP32 Technical Reference Manual,”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hlinkClick r:id="rId6"/>
              </a:rPr>
              <a:t>https://www.espressif.com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(accessed 2026-01-25).</a:t>
            </a:r>
          </a:p>
          <a:p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[5] MQTT, “MQTT Protocol Specification,”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hlinkClick r:id="rId7"/>
              </a:rPr>
              <a:t>https://mqtt.org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(accessed 2026-01-25).</a:t>
            </a:r>
            <a:endParaRPr lang="en-US" dirty="0">
              <a:latin typeface="Times New Roman"/>
              <a:cs typeface="Times New Roman"/>
            </a:endParaRPr>
          </a:p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Times New Roman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777240" y="2075760"/>
            <a:ext cx="10606680" cy="426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594360" y="603504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dirty="0">
              <a:ea typeface="Calibri"/>
              <a:cs typeface="Calibri"/>
            </a:endParaRPr>
          </a:p>
        </p:txBody>
      </p:sp>
      <p:sp>
        <p:nvSpPr>
          <p:cNvPr id="573" name="Shape 1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2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21/23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INSPIRE</a:t>
            </a:r>
          </a:p>
        </p:txBody>
      </p:sp>
      <p:sp>
        <p:nvSpPr>
          <p:cNvPr id="56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Reference Inspirations (Optional reading)</a:t>
            </a:r>
          </a:p>
        </p:txBody>
      </p:sp>
      <p:sp>
        <p:nvSpPr>
          <p:cNvPr id="56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Optional reading to help you pick a prototype style and apply quality basics.</a:t>
            </a:r>
          </a:p>
        </p:txBody>
      </p:sp>
      <p:sp>
        <p:nvSpPr>
          <p:cNvPr id="570" name="Shape 7"/>
          <p:cNvSpPr/>
          <p:nvPr/>
        </p:nvSpPr>
        <p:spPr>
          <a:xfrm>
            <a:off x="594360" y="1782720"/>
            <a:ext cx="10972440" cy="448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b="1" dirty="0"/>
              <a:t>Reference Inspirations:</a:t>
            </a:r>
            <a:endParaRPr lang="en-US" dirty="0"/>
          </a:p>
          <a:p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Optional links for deeper learning (verified working):</a:t>
            </a:r>
            <a:endParaRPr lang="en-US"/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WHO — Epilepsy fact sheet: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2"/>
              </a:rPr>
              <a:t>https://www.who.int/news-room/fact-sheets/detail/epilepsy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Epilepsy Foundation — Seizure response guidelines: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3"/>
              </a:rPr>
              <a:t>https://www.epilepsy.com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IEEE Xplore — Wearable seizure detection research: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4"/>
              </a:rPr>
              <a:t>https://ieeexplore.ieee.org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</a:t>
            </a:r>
            <a:r>
              <a:rPr lang="en-US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Espressif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— ESP32 documentation: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5"/>
              </a:rPr>
              <a:t>https://docs.espressif.com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MQTT Protocol (official):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6"/>
              </a:rPr>
              <a:t>https://mqtt.org</a:t>
            </a:r>
            <a:endParaRPr lang="en-US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OWASP Top 10 — IoT security basics: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  <a:hlinkClick r:id="rId7"/>
              </a:rPr>
              <a:t>https://owasp.org/www-project-top-ten/</a:t>
            </a:r>
            <a:endParaRPr lang="en-US">
              <a:latin typeface="Times New Roman"/>
              <a:ea typeface="Calibri"/>
              <a:cs typeface="Calibri"/>
            </a:endParaRPr>
          </a:p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  <a:cs typeface="Arial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777240" y="2075760"/>
            <a:ext cx="10606680" cy="426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975240" y="4645620"/>
            <a:ext cx="1060668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dirty="0">
              <a:ea typeface="Calibri"/>
              <a:cs typeface="Calibri"/>
            </a:endParaRPr>
          </a:p>
        </p:txBody>
      </p:sp>
      <p:sp>
        <p:nvSpPr>
          <p:cNvPr id="573" name="Shape 10"/>
          <p:cNvSpPr/>
          <p:nvPr/>
        </p:nvSpPr>
        <p:spPr>
          <a:xfrm>
            <a:off x="10559142" y="6492240"/>
            <a:ext cx="1632257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2"/>
          <p:cNvSpPr/>
          <p:nvPr/>
        </p:nvSpPr>
        <p:spPr>
          <a:xfrm>
            <a:off x="10809514" y="6492240"/>
            <a:ext cx="787526" cy="32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IN" sz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22/23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ANNEX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Annex (Optional) — Domain-Specific Prototype Checklist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>
                <a:solidFill>
                  <a:srgbClr val="4B5563"/>
                </a:solidFill>
                <a:latin typeface="Calibri"/>
                <a:ea typeface="Calibri"/>
                <a:cs typeface="Calibri"/>
              </a:rPr>
              <a:t>Duplicate ONLY the items relevant to your lab.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Calibri"/>
              <a:cs typeface="Arial"/>
            </a:endParaRPr>
          </a:p>
        </p:txBody>
      </p:sp>
      <p:sp>
        <p:nvSpPr>
          <p:cNvPr id="583" name="Shape 7"/>
          <p:cNvSpPr/>
          <p:nvPr/>
        </p:nvSpPr>
        <p:spPr>
          <a:xfrm>
            <a:off x="594360" y="1874520"/>
            <a:ext cx="54403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System architecture diagram; API flow documented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MQTT broker setup; secure credentials handling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Logs and alert event monitoring enabled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Cost and scalability estimation (early-stage)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84" name="Text 8"/>
          <p:cNvSpPr/>
          <p:nvPr/>
        </p:nvSpPr>
        <p:spPr>
          <a:xfrm>
            <a:off x="850320" y="2039040"/>
            <a:ext cx="4928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>
                <a:solidFill>
                  <a:srgbClr val="111827"/>
                </a:solidFill>
                <a:latin typeface="Times New Roman"/>
                <a:ea typeface="+mn-lt"/>
                <a:cs typeface="+mn-lt"/>
              </a:rPr>
              <a:t>CD — Cloud and DevOps Lab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850320" y="2377440"/>
            <a:ext cx="49284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4B5563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6309360" y="1874520"/>
            <a:ext cx="55774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• Schematic/block diagram; sensor datasheets reviewed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Power budget estimated; battery safety verified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Enclosure mock; wearability and comfort checked</a:t>
            </a:r>
            <a:br>
              <a:rPr lang="en-US" dirty="0">
                <a:latin typeface="Times New Roman"/>
                <a:ea typeface="+mn-lt"/>
                <a:cs typeface="+mn-lt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• Calibration flow; basic electrical safety checks</a:t>
            </a:r>
            <a:endParaRPr lang="en-US" dirty="0">
              <a:latin typeface="Times New Roman"/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Times New Roman"/>
                <a:cs typeface="Times New Roman"/>
              </a:rPr>
              <a:t>FW — Full Stack Web Development Lab</a:t>
            </a: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• Caregiver alert flow and dashboard UI defined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API endpoints and data model documented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Deployment link verified; basic UI testing</a:t>
            </a:r>
            <a:br>
              <a:rPr lang="en-US" dirty="0">
                <a:latin typeface="Times New Roman"/>
                <a:ea typeface="+mn-lt"/>
                <a:cs typeface="Times New Roman"/>
              </a:rPr>
            </a:br>
            <a:r>
              <a:rPr lang="en-US" dirty="0">
                <a:latin typeface="Times New Roman"/>
                <a:ea typeface="+mn-lt"/>
                <a:cs typeface="Times New Roman"/>
              </a:rPr>
              <a:t> • Accessibility and usability checks completed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87" name="Text 11"/>
          <p:cNvSpPr/>
          <p:nvPr/>
        </p:nvSpPr>
        <p:spPr>
          <a:xfrm>
            <a:off x="6565320" y="2039040"/>
            <a:ext cx="506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dirty="0">
                <a:solidFill>
                  <a:srgbClr val="111827"/>
                </a:solidFill>
                <a:latin typeface="Times New Roman"/>
                <a:ea typeface="+mn-lt"/>
                <a:cs typeface="+mn-lt"/>
              </a:rPr>
              <a:t>EI — Embedded Systems and IoT Lab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588" name="Text 12"/>
          <p:cNvSpPr/>
          <p:nvPr/>
        </p:nvSpPr>
        <p:spPr>
          <a:xfrm>
            <a:off x="6565320" y="2377440"/>
            <a:ext cx="50655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4B5563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89" name="Shape 1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4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5"/>
          <p:cNvSpPr/>
          <p:nvPr/>
        </p:nvSpPr>
        <p:spPr>
          <a:xfrm>
            <a:off x="10809514" y="6620400"/>
            <a:ext cx="7875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200"/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11" ma:contentTypeDescription="Create a new document." ma:contentTypeScope="" ma:versionID="c1d04b9658c572ac367ed4fb2e369519">
  <xsd:schema xmlns:xsd="http://www.w3.org/2001/XMLSchema" xmlns:xs="http://www.w3.org/2001/XMLSchema" xmlns:p="http://schemas.microsoft.com/office/2006/metadata/properties" xmlns:ns2="8f4bcbf8-e4fe-49fe-9064-aa6724e1aff7" xmlns:ns3="83df3408-28af-437f-b204-b64d5303919d" targetNamespace="http://schemas.microsoft.com/office/2006/metadata/properties" ma:root="true" ma:fieldsID="8df609a8d163ae2a8d759a23718ba836" ns2:_="" ns3:_="">
    <xsd:import namespace="8f4bcbf8-e4fe-49fe-9064-aa6724e1aff7"/>
    <xsd:import namespace="83df3408-28af-437f-b204-b64d530391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f3408-28af-437f-b204-b64d5303919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79c58b2-d052-42f6-ad66-5381626b27f3}" ma:internalName="TaxCatchAll" ma:showField="CatchAllData" ma:web="83df3408-28af-437f-b204-b64d530391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4bcbf8-e4fe-49fe-9064-aa6724e1aff7">
      <Terms xmlns="http://schemas.microsoft.com/office/infopath/2007/PartnerControls"/>
    </lcf76f155ced4ddcb4097134ff3c332f>
    <TaxCatchAll xmlns="83df3408-28af-437f-b204-b64d5303919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12D24C-5689-40BB-BFE4-4D69E71BDC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83df3408-28af-437f-b204-b64d530391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2520CE-C54E-42B0-8B2A-D6BB56BDC1A0}">
  <ds:schemaRefs>
    <ds:schemaRef ds:uri="83df3408-28af-437f-b204-b64d5303919d"/>
    <ds:schemaRef ds:uri="8f4bcbf8-e4fe-49fe-9064-aa6724e1aff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58F4BB-89F6-494C-B068-E99F0CD5AC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</TotalTime>
  <Words>2486</Words>
  <Application>Microsoft Office PowerPoint</Application>
  <PresentationFormat>Widescreen</PresentationFormat>
  <Paragraphs>442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Thiruvaazhi Uloli</dc:creator>
  <cp:lastModifiedBy>vaishnavi</cp:lastModifiedBy>
  <cp:revision>146</cp:revision>
  <dcterms:modified xsi:type="dcterms:W3CDTF">2026-01-30T08:51:16Z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2025-12-25T17:28:54Z</dcterms:created>
  <dc:creator>SoI Projects</dc:creator>
  <dc:description/>
  <dc:language>en-US</dc:language>
  <cp:lastModifiedBy>SoI Projects</cp:lastModifiedBy>
  <dcterms:modified xsi:type="dcterms:W3CDTF">2025-12-25T17:28:54Z</dcterms:modified>
  <cp:revision>1</cp:revision>
  <dc:subject>SoI Prototype Stage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On-screen Show (16:9)</vt:lpwstr>
  </property>
  <property fmtid="{D5CDD505-2E9C-101B-9397-08002B2CF9AE}" pid="4" name="Slides">
    <vt:r8>21</vt:r8>
  </property>
  <property fmtid="{D5CDD505-2E9C-101B-9397-08002B2CF9AE}" pid="5" name="ContentTypeId">
    <vt:lpwstr>0x0101004AD9324C02AF684081B0638F841F77A7</vt:lpwstr>
  </property>
  <property fmtid="{D5CDD505-2E9C-101B-9397-08002B2CF9AE}" pid="6" name="MediaServiceImageTags">
    <vt:lpwstr/>
  </property>
</Properties>
</file>